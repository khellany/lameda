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3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35"/>
                </a:solidFill>
                <a:latin typeface="Arial"/>
              </a:rPr>
              <a:t>MRR (₦)  -  Month 6, 12, 18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 6</c:v>
                  </c:pt>
                  <c:pt idx="1">
                    <c:v>Mo 12</c:v>
                  </c:pt>
                  <c:pt idx="2">
                    <c:v>Mo 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1350000</c:v>
                </c:pt>
                <c:pt idx="1">
                  <c:v>3200000</c:v>
                </c:pt>
                <c:pt idx="2">
                  <c:v>6100000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25D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 6</c:v>
                  </c:pt>
                  <c:pt idx="1">
                    <c:v>Mo 12</c:v>
                  </c:pt>
                  <c:pt idx="2">
                    <c:v>Mo 18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2100000</c:v>
                </c:pt>
                <c:pt idx="1">
                  <c:v>5800000</c:v>
                </c:pt>
                <c:pt idx="2">
                  <c:v>13400000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Optimistic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 6</c:v>
                  </c:pt>
                  <c:pt idx="1">
                    <c:v>Mo 12</c:v>
                  </c:pt>
                  <c:pt idx="2">
                    <c:v>Mo 18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3400000</c:v>
                </c:pt>
                <c:pt idx="1">
                  <c:v>9200000</c:v>
                </c:pt>
                <c:pt idx="2">
                  <c:v>24800000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E3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548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</a:rPr>
              <a:t>LAMEDA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Turn WhatsApp into your 24/7 AI sales assistant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D8C8"/>
                </a:solidFill>
              </a:rPr>
              <a:t>Conversational commerce for Nigerian retailers  -  automate inquiries, orders, and payments on WhatsApp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28C7E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Pilot Merchants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3200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28C7E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₦50K+ Avg.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3200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28C7E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14-Day Free Trial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3200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28C7E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Seed Stage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4165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8B8"/>
                </a:solidFill>
              </a:rPr>
              <a:t>Confidential  -  For Qualified Investors Only   |   May 2026   |   oladayokelani@gmail.com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Nigerian fashion retailers are drowning in WhatsApp messages  -  and losing sales every hour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420624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34440"/>
            <a:ext cx="109728" cy="1417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99032"/>
            <a:ext cx="493776" cy="493776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990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4-6H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3441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4–6 Hours Daily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1673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Manually answering product enquiries, quotes, and order confirmations via WhatsApp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20624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109728" cy="1417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99032"/>
            <a:ext cx="493776" cy="49377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990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₦5M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68112" y="13441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₦3–5M Lost Annually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68112" y="167335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2–3 missed customers per day × ₦50,000+ AOV × 365 days of missed opportunities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862072"/>
            <a:ext cx="420624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862072"/>
            <a:ext cx="109728" cy="1417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026664"/>
            <a:ext cx="493776" cy="493776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266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N/A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0704" y="29718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Zero Visibility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60704" y="330098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Orders tracked in chat threads, customer contacts in a phone  -  no database, no analytics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862072"/>
            <a:ext cx="420624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862072"/>
            <a:ext cx="109728" cy="1417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026664"/>
            <a:ext cx="493776" cy="493776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02666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8112" y="29718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E35"/>
                </a:solidFill>
              </a:rPr>
              <a:t>No Follow-Up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68112" y="330098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Abandoned carts forgotten, loyal customers never re-engaged, complaints handled chaotically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" y="4434840"/>
            <a:ext cx="8631936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D366"/>
                </a:solidFill>
              </a:rPr>
              <a:t>Nigeria has 41M+ WhatsApp-active SMEs. Fashion retail alone generates ₦1.2T annually. Every retailer has this problem.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D8C8"/>
                </a:solidFill>
              </a:rPr>
              <a:t>Lameda turns WhatsApp into a fully automated commerce engine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8631936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D366"/>
                </a:solidFill>
              </a:rPr>
              <a:t>Lameda 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is a SaaS platform that gives fashion retailers an AI-powered WhatsApp bot: it answers product questions, guides customers through checkout, </a:t>
            </a:r>
            <a:pPr algn="l" indent="0" marL="0">
              <a:buNone/>
            </a:pPr>
            <a:r>
              <a:rPr lang="en-US" sz="1350" b="1" dirty="0">
                <a:solidFill>
                  <a:srgbClr val="F5A623"/>
                </a:solidFill>
              </a:rPr>
              <a:t>collects payment automatically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, and manages complaints  -  all without the merchant lifting a finger.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2176272"/>
            <a:ext cx="274320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2286000"/>
            <a:ext cx="493776" cy="493776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286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SRC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2267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Smart Discovery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8D0"/>
                </a:solidFill>
              </a:rPr>
              <a:t>Text + photo search. Customers find products instantly in English or Pidgin.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2176272"/>
            <a:ext cx="274320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2286000"/>
            <a:ext cx="493776" cy="493776"/>
          </a:xfrm>
          <a:prstGeom prst="ellipse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2286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95344" y="2267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Guided Checkout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70662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8D0"/>
                </a:solidFill>
              </a:rPr>
              <a:t>Variant selection, delivery capture, and order creation  -  all in chat.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08192" y="2176272"/>
            <a:ext cx="274320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2286000"/>
            <a:ext cx="493776" cy="493776"/>
          </a:xfrm>
          <a:prstGeom prst="ellipse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286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21424" y="2267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Auto Payment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70662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8D0"/>
                </a:solidFill>
              </a:rPr>
              <a:t>Paystack card links &amp; Monnify bank transfers generated per order.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566160"/>
            <a:ext cx="274320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3192" y="3675888"/>
            <a:ext cx="493776" cy="49377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6758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Human Handoff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8D0"/>
                </a:solidFill>
              </a:rPr>
              <a:t>Escalates complex or emotional conversations to the merchant in &lt;30 sec.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82112" y="3566160"/>
            <a:ext cx="274320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9272" y="3675888"/>
            <a:ext cx="493776" cy="49377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9272" y="36758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95344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Broadcasts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8D0"/>
                </a:solidFill>
              </a:rPr>
              <a:t>Segment customers; send targeted WhatsApp promos with delivery analytics.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08192" y="3566160"/>
            <a:ext cx="2743200" cy="1234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45352" y="3675888"/>
            <a:ext cx="493776" cy="493776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367588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21424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40965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8D8D0"/>
                </a:solidFill>
              </a:rPr>
              <a:t>Real-time orders, revenue, conversion funnel, and AI cost per conversation.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 merchant is live in under 30 minutes. A customer places their first order in under 5.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1872" y="987552"/>
            <a:ext cx="731520" cy="731520"/>
          </a:xfrm>
          <a:prstGeom prst="ellipse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9875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1810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Merchant Onboards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2331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Signs up → setup wizard (5 steps)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8072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Uploads product catalogue with photos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328269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Connects WhatsApp number via BSP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" y="37581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Configures Paystack / Monnify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4544568"/>
            <a:ext cx="2194560" cy="310896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5445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~25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14300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87952" y="987552"/>
            <a:ext cx="731520" cy="73152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9875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19272" y="1810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Customer Discovers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64992" y="2331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Clicks bot link (Instagram bio / WhatsApp status)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64992" y="28072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Browses by category or searches in plain language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64992" y="328269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Sends a photo  -  bot finds matching products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64992" y="37581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Selects variants, adds to cart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56432" y="4544568"/>
            <a:ext cx="2194560" cy="310896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45445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~3 minutes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114300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14032" y="987552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9875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245352" y="18105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Order &amp; Payment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91072" y="2331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Bot captures delivery address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91072" y="28072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Generates Paystack link or Monnify account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91072" y="328269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Customer pays  -  order confirmed instantly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91072" y="37581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</a:rPr>
              <a:t>Merchant dashboard updates in real-time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82512" y="4544568"/>
            <a:ext cx="2194560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5445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~2 minutes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99232" y="3017520"/>
            <a:ext cx="182880" cy="0"/>
          </a:xfrm>
          <a:prstGeom prst="line">
            <a:avLst/>
          </a:prstGeom>
          <a:noFill/>
          <a:ln w="25400">
            <a:solidFill>
              <a:srgbClr val="25D3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25312" y="3017520"/>
            <a:ext cx="182880" cy="0"/>
          </a:xfrm>
          <a:prstGeom prst="line">
            <a:avLst/>
          </a:prstGeom>
          <a:noFill/>
          <a:ln w="25400">
            <a:solidFill>
              <a:srgbClr val="25D3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A massive, underserved market at the intersection of mobile commerce and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754880" cy="38404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3749040" cy="301752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874520"/>
            <a:ext cx="2468880" cy="210312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TAM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8E3C"/>
                </a:solidFill>
              </a:rPr>
              <a:t>SAM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27632" y="260604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SOM
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₦675M–₦900M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21808" y="987552"/>
            <a:ext cx="3566160" cy="9144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21808" y="987552"/>
            <a:ext cx="9144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042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TAM  -  Total Addressable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2120" y="12618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E35"/>
                </a:solidFill>
              </a:rPr>
              <a:t>₦4.3 Trillion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Total Nigerian fashion retail market (apparel + accessories, 2025)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21808" y="2020824"/>
            <a:ext cx="3566160" cy="9144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2020824"/>
            <a:ext cx="91440" cy="91440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075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8E3C"/>
                </a:solidFill>
              </a:rPr>
              <a:t>SAM  -  Serviceable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32120" y="22951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E35"/>
                </a:solidFill>
              </a:rPr>
              <a:t>₦225–300 Billion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2587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WhatsApp-active fashion SMEs with 20+ daily conversations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21808" y="3054096"/>
            <a:ext cx="3566160" cy="9144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21808" y="3054096"/>
            <a:ext cx="91440" cy="91440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3108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SOM  -  Target (Month 36)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33284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E35"/>
                </a:solidFill>
              </a:rPr>
              <a:t>₦675M–₦900M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621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2,500–3,000 merchants at ₦15,000–₦25,000 MRR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21808" y="4087368"/>
            <a:ext cx="3566160" cy="9144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1808" y="4087368"/>
            <a:ext cx="9144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4142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Why Now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43616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E35"/>
                </a:solidFill>
              </a:rPr>
              <a:t>3 Tailwinds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32120" y="4654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WhatsApp BSP maturity  |  AI cost collapse  |  Naira devaluation driving local digital adoption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No competitor delivers WhatsApp-native, Nigeria-first conversational commerce end-to-end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8463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79192" y="1097280"/>
            <a:ext cx="0" cy="3749040"/>
          </a:xfrm>
          <a:prstGeom prst="line">
            <a:avLst/>
          </a:prstGeom>
          <a:noFill/>
          <a:ln w="19050">
            <a:solidFill>
              <a:srgbClr val="D1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999232"/>
            <a:ext cx="4709160" cy="0"/>
          </a:xfrm>
          <a:prstGeom prst="line">
            <a:avLst/>
          </a:prstGeom>
          <a:noFill/>
          <a:ln w="19050">
            <a:solidFill>
              <a:srgbClr val="D1E8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526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Global / Generic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4526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Nigeria-First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078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WhatsApp-Native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035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Web-First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5528" y="1344168"/>
            <a:ext cx="237744" cy="23774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353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WATI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69848" y="1801368"/>
            <a:ext cx="237744" cy="23774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18105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Bird.com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44168" y="2258568"/>
            <a:ext cx="237744" cy="237744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2267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ManyChat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81528" y="3355848"/>
            <a:ext cx="237744" cy="237744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3649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Bumpa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0168" y="3630168"/>
            <a:ext cx="237744" cy="237744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6393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Kippa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1435608"/>
            <a:ext cx="237744" cy="237744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14447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C7E"/>
                </a:solidFill>
              </a:rPr>
              <a:t>Lameda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987552"/>
            <a:ext cx="91440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94376" y="98755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Feature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987552"/>
            <a:ext cx="91440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98755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WATI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987552"/>
            <a:ext cx="91440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4616" y="98755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Bumpa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987552"/>
            <a:ext cx="914400" cy="402336"/>
          </a:xfrm>
          <a:prstGeom prst="rect">
            <a:avLst/>
          </a:prstGeom>
          <a:solidFill>
            <a:srgbClr val="0D2137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4736" y="98755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Lameda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1426464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4376" y="142646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WhatsApp-native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426464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142646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Yes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1426464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14616" y="142646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38160" y="1426464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74736" y="142646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Yes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57800" y="186537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94376" y="186537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Nigeria-specific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186537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186537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186537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4616" y="186537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Yes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186537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74736" y="186537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Yes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57800" y="2304288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94376" y="230428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AI product search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2304288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230428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78040" y="2304288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14616" y="230428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138160" y="2304288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74736" y="230428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Yes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257800" y="274320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94376" y="274320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Image matching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7920" y="274320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54496" y="274320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78040" y="274320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14616" y="274320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138160" y="274320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74736" y="274320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Yes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257800" y="3182112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94376" y="318211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Payment integration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17920" y="3182112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54496" y="318211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178040" y="3182112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14616" y="318211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POS only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138160" y="3182112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74736" y="318211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Paystack+Monnify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257800" y="3621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94376" y="362102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Order mgmt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17920" y="3621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54496" y="362102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178040" y="3621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14616" y="362102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Yes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138160" y="3621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74736" y="362102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Yes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257800" y="4059936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294376" y="405993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Pidgin language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217920" y="4059936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54496" y="405993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178040" y="4059936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14616" y="405993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No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138160" y="4059936"/>
            <a:ext cx="914400" cy="402336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74736" y="405993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Yes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257800" y="449884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94376" y="449884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Pricing (SME)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217920" y="449884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54496" y="449884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$49/mo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178040" y="449884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14616" y="449884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5"/>
                </a:solidFill>
              </a:rPr>
              <a:t>₦5K/mo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8138160" y="449884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174736" y="449884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₦10K/mo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Subscription SaaS  -  simple monthly pricing with a 14-day free trial, no credit card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743200" cy="16459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07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8C7E"/>
                </a:solidFill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E35"/>
                </a:solidFill>
              </a:rPr>
              <a:t>₦10,000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" y="2048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/mo  |  ₦100K/yr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340864"/>
            <a:ext cx="2286000" cy="0"/>
          </a:xfrm>
          <a:prstGeom prst="line">
            <a:avLst/>
          </a:prstGeom>
          <a:noFill/>
          <a:ln w="12700">
            <a:solidFill>
              <a:srgbClr val="D1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8C7E"/>
                </a:solidFill>
              </a:rPr>
              <a:t>Up to 50 products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500 conversations/mo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626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WhatsApp + Telegram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Order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Human handoff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Email support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5254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Basic analytics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82112" y="1005840"/>
            <a:ext cx="2743200" cy="384048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82112" y="1005840"/>
            <a:ext cx="2743200" cy="16459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93592" y="960120"/>
            <a:ext cx="19202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960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9272" y="1207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D366"/>
                </a:solidFill>
              </a:rPr>
              <a:t>Growth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19272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₦15,000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319272" y="2048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C8"/>
                </a:solidFill>
              </a:rPr>
              <a:t>/mo  |  ₦150K/yr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0712" y="2340864"/>
            <a:ext cx="2286000" cy="0"/>
          </a:xfrm>
          <a:prstGeom prst="line">
            <a:avLst/>
          </a:prstGeom>
          <a:noFill/>
          <a:ln w="12700">
            <a:solidFill>
              <a:srgbClr val="4455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Up to 150 products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9272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D8C8"/>
                </a:solidFill>
              </a:rPr>
              <a:t>2,000 conversations/mo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0" y="29626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Everything in Starter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3101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Customer broadcasts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Full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0050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Priority email support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35254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Customer segmentation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08192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08192" y="1005840"/>
            <a:ext cx="27432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070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Pro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45352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E35"/>
                </a:solidFill>
              </a:rPr>
              <a:t>₦25,000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245352" y="2048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/mo  |  ₦250K/yr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36792" y="2340864"/>
            <a:ext cx="2286000" cy="0"/>
          </a:xfrm>
          <a:prstGeom prst="line">
            <a:avLst/>
          </a:prstGeom>
          <a:noFill/>
          <a:ln w="12700">
            <a:solidFill>
              <a:srgbClr val="D1E8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45352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8C7E"/>
                </a:solidFill>
              </a:rPr>
              <a:t>Unlimited products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45352" y="2633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Unlimited conversations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29626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Everything in Growth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33101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API access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3657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AI cost analytics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40050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Dedicated account manager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435254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5"/>
                </a:solidFill>
              </a:rPr>
              <a:t>Custom integrations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56032" y="4919472"/>
            <a:ext cx="8631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Annual plans save 2 months (16.7% discount). Average merchant recovers subscription cost in first recovered sale.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Financial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3-scenario model  -  Conservative, Base, and Optimistic  -  based on bottom-up cost modelling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10058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61888" y="987552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61888" y="987552"/>
            <a:ext cx="109728" cy="658368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03327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8C7E"/>
                </a:solidFill>
              </a:rPr>
              <a:t>Break-even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72200" y="121615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Month 11–14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72200" y="145389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Base scenario; Mth 8–9 optimistic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61888" y="1719072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61888" y="1719072"/>
            <a:ext cx="109728" cy="65836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76479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Month 18 MRR (Base)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72200" y="19476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₦13.4M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72200" y="218541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890 merchants × avg ₦15K blended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61888" y="2450592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61888" y="2450592"/>
            <a:ext cx="10972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49631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Gross Margin (Month 18)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26791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~72%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72200" y="291693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COGS dominated by WhatsApp BSP fees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61888" y="3182112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61888" y="3182112"/>
            <a:ext cx="109728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322783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LTV : CAC (Base)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72200" y="34107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4.5 : 1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172200" y="364845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LTV ₦270K | CAC ₦60K | 18-mo payback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961888" y="3913632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61888" y="3913632"/>
            <a:ext cx="10972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2200" y="3959352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Trial → Paid Conv.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172200" y="4142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E35"/>
                </a:solidFill>
              </a:rPr>
              <a:t>80% target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172200" y="437997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KPI gate before Series A raise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56032" y="4645152"/>
            <a:ext cx="86319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6634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Key assumptions: Month 1 = 5 pilot merchants | Conservative: 8% MoM growth, 8% churn | Base: 15% growth, 5% churn | Optimistic: 22% growth, 3% churn. Full sensitivity model available.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Unit Economics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Strong LTV:CAC ratio  -  and gross margin improves significantly as BSP costs compress at scale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A5568"/>
                </a:solidFill>
              </a:rPr>
              <a:t>COST PER MERCHANT (Monthly)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16916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38988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Cost Item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389888"/>
            <a:ext cx="10058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38988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Early Stage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389888"/>
            <a:ext cx="9144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3898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At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1389888"/>
            <a:ext cx="9144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3898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% Rev (Gth)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737360"/>
            <a:ext cx="169164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73736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WhatsApp BSP (Termii)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0" y="1737360"/>
            <a:ext cx="100584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73736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₦9,000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63240" y="1737360"/>
            <a:ext cx="91440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17373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₦4,500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1737360"/>
            <a:ext cx="91440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7373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51%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2084832"/>
            <a:ext cx="1691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208483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AI API (Haiku + Sonnet)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0" y="208483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208483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₦1,836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2084832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0848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₦1,836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69080" y="2084832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0848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10%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2432304"/>
            <a:ext cx="169164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2432304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Supabase storage/DB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011680" y="2432304"/>
            <a:ext cx="100584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24323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₦300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63240" y="2432304"/>
            <a:ext cx="91440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243230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₦200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69080" y="2432304"/>
            <a:ext cx="91440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243230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2%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2779776"/>
            <a:ext cx="1691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" y="2779776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Vercel hosting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011680" y="277977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57400" y="277977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₦200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063240" y="2779776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277977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₦100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69080" y="2779776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277977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1%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56032" y="3127248"/>
            <a:ext cx="169164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312724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CLIP image matching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011680" y="3127248"/>
            <a:ext cx="100584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57400" y="312724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₦200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063240" y="3127248"/>
            <a:ext cx="91440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31272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₦150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069080" y="3127248"/>
            <a:ext cx="914400" cy="329184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312724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1%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56032" y="3474720"/>
            <a:ext cx="1691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347472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Support (blended)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011680" y="347472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57400" y="34747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₦300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063240" y="3474720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0" y="34747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₦150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069080" y="3474720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0" y="34747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35"/>
                </a:solidFill>
              </a:rPr>
              <a:t>2%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56032" y="3822192"/>
            <a:ext cx="1691640" cy="329184"/>
          </a:xfrm>
          <a:prstGeom prst="rect">
            <a:avLst/>
          </a:prstGeom>
          <a:solidFill>
            <a:srgbClr val="E8F8F0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" y="3822192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8C7E"/>
                </a:solidFill>
              </a:rPr>
              <a:t>Total COGS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011680" y="3822192"/>
            <a:ext cx="1005840" cy="329184"/>
          </a:xfrm>
          <a:prstGeom prst="rect">
            <a:avLst/>
          </a:prstGeom>
          <a:solidFill>
            <a:srgbClr val="E8F8F0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57400" y="38221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8C7E"/>
                </a:solidFill>
              </a:rPr>
              <a:t>₦11,836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063240" y="3822192"/>
            <a:ext cx="914400" cy="329184"/>
          </a:xfrm>
          <a:prstGeom prst="rect">
            <a:avLst/>
          </a:prstGeom>
          <a:solidFill>
            <a:srgbClr val="E8F8F0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0" y="382219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8C7E"/>
                </a:solidFill>
              </a:rPr>
              <a:t>₦6,936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069080" y="3822192"/>
            <a:ext cx="914400" cy="329184"/>
          </a:xfrm>
          <a:prstGeom prst="rect">
            <a:avLst/>
          </a:prstGeom>
          <a:solidFill>
            <a:srgbClr val="E8F8F0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0" y="382219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8C7E"/>
                </a:solidFill>
              </a:rPr>
              <a:t>67%→40%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074920" y="960120"/>
            <a:ext cx="3813048" cy="4572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74920" y="960120"/>
            <a:ext cx="109728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57800" y="996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Average MRR per Merchant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257800" y="1170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5"/>
                </a:solidFill>
              </a:rPr>
              <a:t>₦15,000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150608" y="10424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Blended Growth + Pro mix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074920" y="1417320"/>
            <a:ext cx="3813048" cy="4572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74920" y="1417320"/>
            <a:ext cx="109728" cy="4572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57800" y="14538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Avg. Gross Margin (Early)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257800" y="16276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5"/>
                </a:solidFill>
              </a:rPr>
              <a:t>21%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7150608" y="14996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₦3,164 / merchant gross profit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074920" y="1874520"/>
            <a:ext cx="3813048" cy="4572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74920" y="1874520"/>
            <a:ext cx="109728" cy="4572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57800" y="1911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Avg. Gross Margin (Scale)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257800" y="2084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5"/>
                </a:solidFill>
              </a:rPr>
              <a:t>54%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7150608" y="19568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BSP volume discount + Tier 2 AI pricing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074920" y="2331720"/>
            <a:ext cx="3813048" cy="4572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074920" y="2331720"/>
            <a:ext cx="109728" cy="45720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57800" y="2368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Average Customer Lifetime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5257800" y="2542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5"/>
                </a:solidFill>
              </a:rPr>
              <a:t>18 months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7150608" y="24140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Based on 5% monthly churn target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074920" y="2788920"/>
            <a:ext cx="3813048" cy="4572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74920" y="2788920"/>
            <a:ext cx="109728" cy="4572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57800" y="2825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Customer LTV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5257800" y="29992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5"/>
                </a:solidFill>
              </a:rPr>
              <a:t>₦270,000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7150608" y="28712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₦15K/mo × 18mo × 100% (simple)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074920" y="3246120"/>
            <a:ext cx="3813048" cy="4572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074920" y="3246120"/>
            <a:ext cx="109728" cy="4572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57800" y="3282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Customer Acquisition Cost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5257800" y="34564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5"/>
                </a:solidFill>
              </a:rPr>
              <a:t>₦50–90K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7150608" y="33284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Content + referral + direct sales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5074920" y="3703320"/>
            <a:ext cx="3813048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74920" y="3703320"/>
            <a:ext cx="109728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257800" y="37398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D8C8"/>
                </a:solidFill>
              </a:rPr>
              <a:t>LTV : CAC Ratio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5257800" y="39136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3:1 – 5:1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7150608" y="37856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DBC8"/>
                </a:solidFill>
              </a:rPr>
              <a:t>Exceeds VC benchmark of 3:1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074920" y="4160520"/>
            <a:ext cx="3813048" cy="45720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074920" y="4160520"/>
            <a:ext cx="109728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57800" y="4197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CAC Payback Period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5257800" y="43708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35"/>
                </a:solidFill>
              </a:rPr>
              <a:t>4–6 months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7150608" y="424281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18096"/>
                </a:solidFill>
              </a:rPr>
              <a:t>Months to recover acquisition cost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Traction &amp;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8C8"/>
                </a:solidFill>
              </a:rPr>
              <a:t>5 pilot merchants onboarded. Early signals validate the core hypothesis.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01168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D366"/>
                </a:solidFill>
              </a:rPr>
              <a:t>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Merchants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DBC8"/>
                </a:solidFill>
              </a:rPr>
              <a:t>Lagos, Abuja, Port Harcourt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115568"/>
            <a:ext cx="201168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D366"/>
                </a:solidFill>
              </a:rPr>
              <a:t>₦85K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Largest Recovered Sale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50592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DBC8"/>
                </a:solidFill>
              </a:rPr>
              <a:t>Abandoned cart recovered overnight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1115568"/>
            <a:ext cx="201168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D366"/>
                </a:solidFill>
              </a:rPr>
              <a:t>25 min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45152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Avg. Setup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45152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DBC8"/>
                </a:solidFill>
              </a:rPr>
              <a:t>Wizard onboarding flow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39712" y="1115568"/>
            <a:ext cx="201168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9712" y="1170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D366"/>
                </a:solidFill>
              </a:rPr>
              <a:t>3+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39712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Recovered Sales/Merchant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39712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DBC8"/>
                </a:solidFill>
              </a:rPr>
              <a:t>In first 7 days of pilot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487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D366"/>
                </a:solidFill>
              </a:rPr>
              <a:t>MILESTONE ROADMAP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" y="2907792"/>
            <a:ext cx="164592" cy="164592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" y="3072384"/>
            <a:ext cx="0" cy="210312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346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NOW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 Pilot Merchants live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" y="3273552"/>
            <a:ext cx="164592" cy="164592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" y="3438144"/>
            <a:ext cx="0" cy="210312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2004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D366"/>
                </a:solidFill>
              </a:rPr>
              <a:t>Mo 1–2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1732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MVP launch  -  WhatsApp + Paystack + 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" y="363931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" y="3803904"/>
            <a:ext cx="0" cy="210312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5661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Mo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1732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ACBC"/>
                </a:solidFill>
              </a:rPr>
              <a:t>10 paying merchants, ₦150K MRR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" y="4005072"/>
            <a:ext cx="164592" cy="164592"/>
          </a:xfrm>
          <a:prstGeom prst="ellipse">
            <a:avLst/>
          </a:prstGeom>
          <a:solidFill>
            <a:srgbClr val="5B8FA0"/>
          </a:solidFill>
          <a:ln w="12700">
            <a:solidFill>
              <a:srgbClr val="5B8F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2" y="4169664"/>
            <a:ext cx="0" cy="210312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9319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8FA0"/>
                </a:solidFill>
              </a:rPr>
              <a:t>Mo 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1732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ACBC"/>
                </a:solidFill>
              </a:rPr>
              <a:t>50 merchants, ₦750K MRR, Telegram added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" y="4370832"/>
            <a:ext cx="164592" cy="164592"/>
          </a:xfrm>
          <a:prstGeom prst="ellipse">
            <a:avLst/>
          </a:prstGeom>
          <a:solidFill>
            <a:srgbClr val="5B8FA0"/>
          </a:solidFill>
          <a:ln w="12700">
            <a:solidFill>
              <a:srgbClr val="5B8F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6052" y="4535424"/>
            <a:ext cx="0" cy="210312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2976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8FA0"/>
                </a:solidFill>
              </a:rPr>
              <a:t>Mo 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17320" y="4297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ACBC"/>
                </a:solidFill>
              </a:rPr>
              <a:t>200 merchants, ₦3M MRR  -  break-even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8328" y="4736592"/>
            <a:ext cx="164592" cy="164592"/>
          </a:xfrm>
          <a:prstGeom prst="ellipse">
            <a:avLst/>
          </a:prstGeom>
          <a:solidFill>
            <a:srgbClr val="5B8FA0"/>
          </a:solidFill>
          <a:ln w="12700">
            <a:solidFill>
              <a:srgbClr val="5B8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6634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8FA0"/>
                </a:solidFill>
              </a:rPr>
              <a:t>Mo 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41732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ACBC"/>
                </a:solidFill>
              </a:rPr>
              <a:t>500 merchants, ₦7.5M MRR  -  Series A ready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Go-to-Market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Three-phase GTM  -  validate → accelerate → expand  -  with capital-efficient distribution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2743200" cy="3931920"/>
          </a:xfrm>
          <a:prstGeom prst="rect">
            <a:avLst/>
          </a:prstGeom>
          <a:solidFill>
            <a:srgbClr val="F7FBFD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51560"/>
            <a:ext cx="2743200" cy="475488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1: Months 1–3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F5E0"/>
                </a:solidFill>
              </a:rPr>
              <a:t>Target: 10 merchants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8C7E"/>
                </a:solidFill>
              </a:rPr>
              <a:t>Validate &amp; Prove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Key tactics: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2199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Activate 5 pilot merchants with hands-on onboarding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569464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Gather testimonials + case studies (₦ recovered, hours saved)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1693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Refine onboarding flow to &lt;25 min completion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2644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Achieve 80% trial-to-paid conversion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Channels: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89534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28C7E"/>
                </a:solidFill>
              </a:rPr>
              <a:t>Direct outreach (founder-led)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14223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28C7E"/>
                </a:solidFill>
              </a:rPr>
              <a:t>Instagram DM campaigns to fashion retailers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3891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28C7E"/>
                </a:solidFill>
              </a:rPr>
              <a:t>Fashion marketplace partnerships (Jumia Fashion)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1051560"/>
            <a:ext cx="2743200" cy="3931920"/>
          </a:xfrm>
          <a:prstGeom prst="rect">
            <a:avLst/>
          </a:prstGeom>
          <a:solidFill>
            <a:srgbClr val="F7FBFD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82112" y="1051560"/>
            <a:ext cx="2743200" cy="4754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0515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Phase 2: Months 4–9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128016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Target: 200 merchants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15819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D366"/>
                </a:solidFill>
              </a:rPr>
              <a:t>Accelerate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91840" y="19659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Key tactics: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222199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Content-led growth: WhatsApp selling tips for Nigerian retailers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2569464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Referral program: 1 free month per successful referral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291693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Onboard fashion trade associations (LCC Market, Balogun)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2644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Launch inside top-10 Nigerian fashion Instagram communities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6576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Channels: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89534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5D366"/>
                </a:solidFill>
              </a:rPr>
              <a:t>Content marketing + SEO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414223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5D366"/>
                </a:solidFill>
              </a:rPr>
              <a:t>Referral loop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43891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5D366"/>
                </a:solidFill>
              </a:rPr>
              <a:t>Community-led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91840" y="46360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5D366"/>
                </a:solidFill>
              </a:rPr>
              <a:t>Fashion events + trade shows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08192" y="1051560"/>
            <a:ext cx="2743200" cy="3931920"/>
          </a:xfrm>
          <a:prstGeom prst="rect">
            <a:avLst/>
          </a:prstGeom>
          <a:solidFill>
            <a:srgbClr val="F7FBF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08192" y="1051560"/>
            <a:ext cx="274320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0515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3: Months 10–18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128016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F5E0"/>
                </a:solidFill>
              </a:rPr>
              <a:t>Target: 500+ merchants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15819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Scale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19659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Key tactics: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22199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Agency/reseller channel: digital marketing agencies offer Lameda to clients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2569464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WhatsApp Business API premium tier unlocks lower BSP pricing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91693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Expand verticals: beauty, food, home decor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2644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Ghana/Kenya market entry  -  same playbook, local BSP partner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36576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5"/>
                </a:solidFill>
              </a:rPr>
              <a:t>Channels: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89534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5A623"/>
                </a:solidFill>
              </a:rPr>
              <a:t>Reseller / agency channel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17920" y="414223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5A623"/>
                </a:solidFill>
              </a:rPr>
              <a:t>Vertical expansion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17920" y="43891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5A623"/>
                </a:solidFill>
              </a:rPr>
              <a:t>Regional expansion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0" y="46360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5A623"/>
                </a:solidFill>
              </a:rPr>
              <a:t>API + platform partnerships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Technology &amp; Competitive Moat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Built on proven, scalable infrastructure  -  with data network effects that compound over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" y="9875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3075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07592"/>
            <a:ext cx="109728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441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A90D9"/>
                </a:solidFill>
              </a:rPr>
              <a:t>Channels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WhatsApp Business Platform (Termii BSP) + Telegram Bot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81965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819656"/>
            <a:ext cx="109728" cy="475488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85623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28C7E"/>
                </a:solidFill>
              </a:rPr>
              <a:t>AI Engine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39112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Claude Haiku (classification) + Claude Sonnet (complex NLP) + OpenAI text-embedding-3-small (semantic search)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33172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331720"/>
            <a:ext cx="109728" cy="4754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6829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D366"/>
                </a:solidFill>
              </a:rPr>
              <a:t>Image Match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551176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CLIP ViT-B/32 via Replicate  -  photo-to-product matching (512-dim embeddings in pgvector)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843784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843784"/>
            <a:ext cx="109728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88036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Payments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063240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Paystack (card payments) + Monnify (bank transfer virtual accounts)  -  HMAC-SHA512 webhook verification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355848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355848"/>
            <a:ext cx="109728" cy="4754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9242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B59B6"/>
                </a:solidFill>
              </a:rPr>
              <a:t>Database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3575304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Supabase (PostgreSQL + pgvector + Auth + Storage)  -  multi-tenant with Row Level Security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86791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867912"/>
            <a:ext cx="109728" cy="47548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044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Hosting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" y="4087368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Vercel (Edge functions, Next.js)  -  GitHub CI/CD, Sentry error monitoring, UptimeRobot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30368" y="9875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COMPETITIVE MOAT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30368" y="1307592"/>
            <a:ext cx="3566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30368" y="1307592"/>
            <a:ext cx="109728" cy="87782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76672" y="1499616"/>
            <a:ext cx="493776" cy="493776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14996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61888" y="138074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Merchant Data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61888" y="1655064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Every order, preference, and complaint builds a proprietary merchant-customer graph  -  unavailable to any competitor.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30368" y="2267712"/>
            <a:ext cx="3566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30368" y="2267712"/>
            <a:ext cx="109728" cy="877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76672" y="2459736"/>
            <a:ext cx="493776" cy="49377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24597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61888" y="234086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Nigeria-First Design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61888" y="2615184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Pidgin support, local payment rails, local BSP relationships, and SME UX  -  3 years ahead of global players.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30368" y="3227832"/>
            <a:ext cx="3566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30368" y="3227832"/>
            <a:ext cx="109728" cy="8778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76672" y="3419856"/>
            <a:ext cx="493776" cy="49377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6672" y="341985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961888" y="330098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WhatsApp-Native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961888" y="3575304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Built for the channel Nigerian SMEs already use  -  no app download, no website required.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30368" y="4187952"/>
            <a:ext cx="356616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230368" y="4187952"/>
            <a:ext cx="109728" cy="87782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76672" y="4379976"/>
            <a:ext cx="493776" cy="493776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6672" y="43799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61888" y="4261104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Network Effects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61888" y="4535424"/>
            <a:ext cx="2761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Referral loop between merchants + customer familiarity with bot UX amplifies acquisition over time.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Building at the intersection of Nigerian commerce, AI, and mobile  -  where we have deep expertise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8631936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70432"/>
            <a:ext cx="1188720" cy="1188720"/>
          </a:xfrm>
          <a:prstGeom prst="ellipse">
            <a:avLst/>
          </a:prstGeom>
          <a:solidFill>
            <a:srgbClr val="128C7E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19072" y="11430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Dayo Oladayo Kelani  -  Founder &amp; CEO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19072" y="153619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Product, strategy, and business development. </a:t>
            </a:r>
            <a:pPr algn="l" indent="0" marL="0">
              <a:buNone/>
            </a:pPr>
            <a:r>
              <a:rPr lang="en-US" sz="1200" i="1" dirty="0">
                <a:solidFill>
                  <a:srgbClr val="A8D8C8"/>
                </a:solidFill>
              </a:rPr>
              <a:t>Validated core problem with 5 fashion retailers before writing a single line of code.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19072" y="1865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D366"/>
                </a:solidFill>
              </a:rPr>
              <a:t>Contact: oladayokelani@gmail.com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715768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5568"/>
                </a:solidFill>
              </a:rPr>
              <a:t>KEY HIRES  -  USING SEED CAPITAL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063240"/>
            <a:ext cx="4160520" cy="82296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3063240"/>
            <a:ext cx="109728" cy="8229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3227832"/>
            <a:ext cx="493776" cy="49377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278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3272" y="3118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Full-Stack Engineer #1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" y="33924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WhatsApp bot engine, AI integration, Supabase schema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33272" y="364845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Hire: Month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4160520" cy="82296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063240"/>
            <a:ext cx="109728" cy="82296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227832"/>
            <a:ext cx="493776" cy="493776"/>
          </a:xfrm>
          <a:prstGeom prst="ellipse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278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1181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8C7E"/>
                </a:solidFill>
              </a:rPr>
              <a:t>Full-Stack Engineer #2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3924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Merchant dashboard (Next.js), payment webhooks, analytics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94960" y="364845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Hire: Month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959352"/>
            <a:ext cx="4160520" cy="82296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959352"/>
            <a:ext cx="109728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4123944"/>
            <a:ext cx="493776" cy="49377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1239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3272" y="40142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Customer Success Lead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33272" y="42885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Onboarding, merchant support, churn prevention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33272" y="454456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Hire: Month 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959352"/>
            <a:ext cx="4160520" cy="822960"/>
          </a:xfrm>
          <a:prstGeom prst="rect">
            <a:avLst/>
          </a:prstGeom>
          <a:solidFill>
            <a:srgbClr val="F7FBFD"/>
          </a:solidFill>
          <a:ln w="12700">
            <a:solidFill>
              <a:srgbClr val="D1E8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959352"/>
            <a:ext cx="109728" cy="8229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4123944"/>
            <a:ext cx="493776" cy="493776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12394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94960" y="40142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Growth / GTM Lead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42885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Content, referral program, partnership development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94960" y="454456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Hire: Month 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8C8"/>
                </a:solidFill>
              </a:rPr>
              <a:t>Seed round to build the product, prove the model, and reach 200 paying merchants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11480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</a:rPr>
              <a:t>₦50,000,000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C8"/>
                </a:solidFill>
              </a:rPr>
              <a:t>Seed Round Target  |  ~$30,000 USD equivalent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898A8"/>
                </a:solidFill>
              </a:rPr>
              <a:t>18-month runway  |  Convertible note or SAFE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</a:rPr>
              <a:t>WHAT WE ACHIEVE WITH SEED CAPITAL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898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50+ paying merchants by Month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80136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739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200+ merchants, ₦3M MRR by Month 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185416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5798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80% trial-to-paid conversion validated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569464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5420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Break-even reached (Base scenario)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953512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Series A readiness by Month 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" y="2578608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D366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3566160"/>
            <a:ext cx="1371600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735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45%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" y="4251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₦22.5M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" y="45079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8"/>
                </a:solidFill>
              </a:rPr>
              <a:t>Engineering (2 FTEs × 9 months)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03704" y="3931920"/>
            <a:ext cx="1371600" cy="29260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0824" y="3639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D366"/>
                </a:solidFill>
              </a:rPr>
              <a:t>20%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20824" y="4251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₦10.0M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20824" y="45079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8"/>
                </a:solidFill>
              </a:rPr>
              <a:t>Product &amp; Infrastructure (hosting, APIs, BSP)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68496" y="3931920"/>
            <a:ext cx="13716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85616" y="3639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20%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85616" y="4251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₦10.0M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85616" y="45079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8"/>
                </a:solidFill>
              </a:rPr>
              <a:t>Marketing &amp; Customer Acquisition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33288" y="4078224"/>
            <a:ext cx="1371600" cy="14630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37856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10%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50408" y="4251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₦5.0M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50408" y="45079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8"/>
                </a:solidFill>
              </a:rPr>
              <a:t>Operations, Legal &amp; NDPR Compliance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498080" y="4151376"/>
            <a:ext cx="1371600" cy="73152"/>
          </a:xfrm>
          <a:prstGeom prst="rect">
            <a:avLst/>
          </a:prstGeom>
          <a:solidFill>
            <a:srgbClr val="8898A8"/>
          </a:solidFill>
          <a:ln w="12700">
            <a:solidFill>
              <a:srgbClr val="8898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3858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8A8"/>
                </a:solidFill>
              </a:rPr>
              <a:t>5%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0" y="4251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₦2.5M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45079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8"/>
                </a:solidFill>
              </a:rPr>
              <a:t>Reserve / Working Capital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E35"/>
                </a:solidFill>
              </a:rPr>
              <a:t>Development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Phase-gated delivery  -  each phase unlocks the next round of growth capital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057400" cy="3840480"/>
          </a:xfrm>
          <a:prstGeom prst="rect">
            <a:avLst/>
          </a:prstGeom>
          <a:solidFill>
            <a:srgbClr val="F7FBFD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057400" cy="59436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F5E0"/>
                </a:solidFill>
              </a:rPr>
              <a:t>MVP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4F5E0"/>
                </a:solidFill>
              </a:rPr>
              <a:t>Months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691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Infrastructure + CI/CD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21305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Merchant onboarding wizard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256946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WhatsApp bot + catalogue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3008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Paystack + Monnify payments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344728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Order management 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" y="4462272"/>
            <a:ext cx="1920240" cy="292608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4462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→ 10 merchants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1005840"/>
            <a:ext cx="2057400" cy="3840480"/>
          </a:xfrm>
          <a:prstGeom prst="rect">
            <a:avLst/>
          </a:prstGeom>
          <a:solidFill>
            <a:srgbClr val="F7FBFD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005840"/>
            <a:ext cx="2057400" cy="5943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Phase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Pilot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D2137"/>
                </a:solidFill>
              </a:rPr>
              <a:t>Months 3–6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1691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NDPR compliance + consent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21305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Complaint ticketing + resolution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256946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Human handoff queue UI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60320" y="3008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Abandoned cart reminders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0" y="344728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Analytics dashboard v1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42032" y="4462272"/>
            <a:ext cx="1920240" cy="29260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4462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</a:rPr>
              <a:t>10 → 50 merchants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1005840"/>
            <a:ext cx="2057400" cy="3840480"/>
          </a:xfrm>
          <a:prstGeom prst="rect">
            <a:avLst/>
          </a:prstGeom>
          <a:solidFill>
            <a:srgbClr val="F7FBF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1005840"/>
            <a:ext cx="20574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F5E0"/>
                </a:solidFill>
              </a:rPr>
              <a:t>Growth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4F5E0"/>
                </a:solidFill>
              </a:rPr>
              <a:t>Months 7–12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1691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Customer segmentation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21305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Broadcast campaigns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256946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Image-based search (CLIP)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3008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Testimonial card generator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3168" y="344728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Reorder nudge automation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4462272"/>
            <a:ext cx="192024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462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 → 200 merchants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94576" y="1005840"/>
            <a:ext cx="2057400" cy="3840480"/>
          </a:xfrm>
          <a:prstGeom prst="rect">
            <a:avLst/>
          </a:prstGeom>
          <a:solidFill>
            <a:srgbClr val="F7FBFD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94576" y="1005840"/>
            <a:ext cx="2057400" cy="5943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67728" y="1280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F5E0"/>
                </a:solidFill>
              </a:rPr>
              <a:t>Scale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D4F5E0"/>
                </a:solidFill>
              </a:rPr>
              <a:t>Months 13–18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86016" y="16916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API access (Pro tier)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86016" y="21305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Telegram channel (full parity)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86016" y="256946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Multi-store accounts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86016" y="3008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Ghana/Kenya market entry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86016" y="344728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Series A due diligence readiness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67728" y="4462272"/>
            <a:ext cx="1920240" cy="2926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4462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 → 500+ merchants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13432" y="2926080"/>
            <a:ext cx="0" cy="0"/>
          </a:xfrm>
          <a:prstGeom prst="line">
            <a:avLst/>
          </a:prstGeom>
          <a:noFill/>
          <a:ln w="19050">
            <a:solidFill>
              <a:srgbClr val="D1E8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26280" y="2926080"/>
            <a:ext cx="0" cy="0"/>
          </a:xfrm>
          <a:prstGeom prst="line">
            <a:avLst/>
          </a:prstGeom>
          <a:noFill/>
          <a:ln w="19050">
            <a:solidFill>
              <a:srgbClr val="D1E8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2926080"/>
            <a:ext cx="0" cy="0"/>
          </a:xfrm>
          <a:prstGeom prst="line">
            <a:avLst/>
          </a:prstGeom>
          <a:noFill/>
          <a:ln w="19050">
            <a:solidFill>
              <a:srgbClr val="D1E8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25D366"/>
                </a:solidFill>
              </a:rPr>
              <a:t>LAMEDA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Every missed WhatsApp message is a missed sale.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We're here to make sure that never happens again.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2700">
            <a:solidFill>
              <a:srgbClr val="128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871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41M+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DBC8"/>
                </a:solidFill>
              </a:rPr>
              <a:t>WhatsApp SMEs in Nigeria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70632" y="24871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₦4.3T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70632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DBC8"/>
                </a:solidFill>
              </a:rPr>
              <a:t>Fashion retail TAM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64024" y="24871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₦13.4M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64024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DBC8"/>
                </a:solidFill>
              </a:rPr>
              <a:t>MRR target at Month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57416" y="24871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4.5:1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57416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DBC8"/>
                </a:solidFill>
              </a:rPr>
              <a:t>LTV:CAC ratio (Base)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3456432"/>
            <a:ext cx="4572000" cy="0"/>
          </a:xfrm>
          <a:prstGeom prst="line">
            <a:avLst/>
          </a:prstGeom>
          <a:noFill/>
          <a:ln w="12700">
            <a:solidFill>
              <a:srgbClr val="128C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478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8C8"/>
                </a:solidFill>
              </a:rPr>
              <a:t>Let's build the commerce layer for Africa's next billion WhatsApp transactions.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8"/>
                </a:solidFill>
              </a:rPr>
              <a:t>Dayo Oladayo Kelani  |  oladayokelani@gmail.com  |  Lagos, Nigeria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Lameda  -  Investor Pitch Deck</dc:title>
  <dc:subject>PptxGenJS Presentation</dc:subject>
  <dc:creator>Lameda</dc:creator>
  <cp:lastModifiedBy>Lameda</cp:lastModifiedBy>
  <cp:revision>1</cp:revision>
  <dcterms:created xsi:type="dcterms:W3CDTF">2026-05-19T12:45:27Z</dcterms:created>
  <dcterms:modified xsi:type="dcterms:W3CDTF">2026-05-19T12:45:27Z</dcterms:modified>
</cp:coreProperties>
</file>